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ZdFnj2VSdp/y3gXtme3D6CHuN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 coverage %</c:v>
                </c:pt>
              </c:strCache>
            </c:strRef>
          </c:tx>
          <c:spPr>
            <a:solidFill>
              <a:srgbClr val="0D9488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34155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calcPrices</c:v>
                  </c:pt>
                  <c:pt idx="1">
                    <c:v>generateToken</c:v>
                  </c:pt>
                  <c:pt idx="2">
                    <c:v>Models</c:v>
                  </c:pt>
                  <c:pt idx="3">
                    <c:v>Routes</c:v>
                  </c:pt>
                  <c:pt idx="4">
                    <c:v>authMiddleware</c:v>
                  </c:pt>
                  <c:pt idx="5">
                    <c:v>userController</c:v>
                  </c:pt>
                  <c:pt idx="6">
                    <c:v>productController</c:v>
                  </c:pt>
                  <c:pt idx="7">
                    <c:v>Overall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71.8</c:v>
                </c:pt>
                <c:pt idx="5">
                  <c:v>63.5</c:v>
                </c:pt>
                <c:pt idx="6">
                  <c:v>49.1</c:v>
                </c:pt>
                <c:pt idx="7">
                  <c:v>65.2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4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778240" y="-1463040"/>
            <a:ext cx="4937760" cy="4937760"/>
          </a:xfrm>
          <a:prstGeom prst="ellipse">
            <a:avLst/>
          </a:prstGeom>
          <a:solidFill>
            <a:srgbClr val="16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058400" y="3383280"/>
            <a:ext cx="3291840" cy="3291840"/>
          </a:xfrm>
          <a:prstGeom prst="ellipse">
            <a:avLst/>
          </a:prstGeom>
          <a:solidFill>
            <a:srgbClr val="163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INTERNATIONAL BURCH UNIVERSITY  ·  IT 506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178308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Software Verification,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Validation &amp; Testing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361188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E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7D5E2"/>
                </a:solidFill>
                <a:latin typeface="Calibri"/>
                <a:ea typeface="Calibri"/>
                <a:cs typeface="Calibri"/>
                <a:sym typeface="Calibri"/>
              </a:rPr>
              <a:t>A full V&amp;V and testing study of </a:t>
            </a: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ProShop</a:t>
            </a:r>
            <a:r>
              <a:rPr b="0" i="0" lang="en-US" sz="1800" u="none" cap="none" strike="noStrike">
                <a:solidFill>
                  <a:srgbClr val="C7D5E2"/>
                </a:solidFill>
                <a:latin typeface="Calibri"/>
                <a:ea typeface="Calibri"/>
                <a:cs typeface="Calibri"/>
                <a:sym typeface="Calibri"/>
              </a:rPr>
              <a:t> — an open-source MERN e-commerce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4526280"/>
            <a:ext cx="5120640" cy="566928"/>
          </a:xfrm>
          <a:prstGeom prst="roundRect">
            <a:avLst>
              <a:gd fmla="val 12903" name="adj"/>
            </a:avLst>
          </a:prstGeom>
          <a:solidFill>
            <a:srgbClr val="163B5C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31520" y="4526280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GitHub  </a:t>
            </a:r>
            <a:r>
              <a:rPr b="0" i="0" lang="en-US" sz="125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github.com/HenaPot/ProShop_SVVT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897880" y="4526280"/>
            <a:ext cx="4572000" cy="566928"/>
          </a:xfrm>
          <a:prstGeom prst="roundRect">
            <a:avLst>
              <a:gd fmla="val 12903" name="adj"/>
            </a:avLst>
          </a:prstGeom>
          <a:solidFill>
            <a:srgbClr val="163B5C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080760" y="4526280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Live  </a:t>
            </a:r>
            <a:r>
              <a:rPr b="0" i="0" lang="en-US" sz="125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proshop-svvt.onrender.com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5623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Hena Potogija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7B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3A7BC"/>
                </a:solidFill>
                <a:latin typeface="Calibri"/>
                <a:ea typeface="Calibri"/>
                <a:cs typeface="Calibri"/>
                <a:sym typeface="Calibri"/>
              </a:rPr>
              <a:t>hena.potogija@stu.ibu.edu.ba   ·   June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548640" y="502920"/>
            <a:ext cx="14630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22960" y="71323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A real, non-trivial system under test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600200"/>
            <a:ext cx="6766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ProShop</a:t>
            </a: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is an open-source </a:t>
            </a:r>
            <a:r>
              <a:rPr b="1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MERN</a:t>
            </a:r>
            <a:r>
              <a:rPr b="0" i="0" lang="en-US" sz="15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(MongoDB · Express · React · Node) e-commerce platform. Rather than build a new app, this project applies the full V&amp;V toolkit to a forked, deployed, real-world codebase.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2926080"/>
            <a:ext cx="219456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48640" y="2926080"/>
            <a:ext cx="73152" cy="7863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13232" y="29992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Catalog &amp; search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13232" y="32735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Paginated products with keyword search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880360" y="2926080"/>
            <a:ext cx="219456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880360" y="2926080"/>
            <a:ext cx="73152" cy="7863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044952" y="29992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 details &amp; reviews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044952" y="32735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Ratings and customer reviews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212080" y="2926080"/>
            <a:ext cx="219456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212080" y="2926080"/>
            <a:ext cx="73152" cy="7863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376672" y="29992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Cart &amp; checkout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376672" y="32735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PayPal sandbox — no real charges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3840480"/>
            <a:ext cx="219456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48640" y="3840480"/>
            <a:ext cx="73152" cy="7863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13232" y="39136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JWT-cookie auth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13232" y="41879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Register, login, protected routes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880360" y="3840480"/>
            <a:ext cx="219456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2880360" y="3840480"/>
            <a:ext cx="73152" cy="7863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044952" y="39136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Order history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044952" y="41879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Per-user order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212080" y="3840480"/>
            <a:ext cx="219456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212080" y="3840480"/>
            <a:ext cx="73152" cy="7863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376672" y="391363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Admin area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376672" y="4187952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Manage products, users, orders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635240" y="1554480"/>
            <a:ext cx="4005072" cy="3200400"/>
          </a:xfrm>
          <a:prstGeom prst="rect">
            <a:avLst/>
          </a:prstGeom>
          <a:solidFill>
            <a:srgbClr val="0F2A43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7863840" y="17373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Trebuchet MS"/>
                <a:ea typeface="Trebuchet MS"/>
                <a:cs typeface="Trebuchet MS"/>
                <a:sym typeface="Trebuchet MS"/>
              </a:rPr>
              <a:t>Modifications for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863840" y="2212848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Extracted an importable Express app so the API is testable with Supertest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863840" y="2816352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Added Vitest, Supertest, in-memory MongoDB, ESLint &amp; Playwright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863840" y="3419856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Fixed BUG-001 (search regex injection) + a password re-hash defect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863840" y="402336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Resolved ESLint code-quality findings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635240" y="4937760"/>
            <a:ext cx="4005072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863840" y="50292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Original work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863840" y="5321808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bradtraversy/proshop-v2</a:t>
            </a: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·  MIT License, preserved &amp; credited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506 — Software Verification, Validation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ProShop · Hena Potogija ·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548640" y="502920"/>
            <a:ext cx="14630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22960" y="71323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A layered testing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Defects are caught at the cheapest, most appropriate level — from static inspection of source up to black-box journeys against the deployed system.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2240280"/>
            <a:ext cx="110642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48640" y="2240280"/>
            <a:ext cx="2468880" cy="6035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713232" y="2240280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Static Analysis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246120" y="2240280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ESLint 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035040" y="2240280"/>
            <a:ext cx="5440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Find defects without running the 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48640" y="2953512"/>
            <a:ext cx="110642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48640" y="2953512"/>
            <a:ext cx="2468880" cy="60350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713232" y="2953512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246120" y="2953512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Vitest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035040" y="2953512"/>
            <a:ext cx="5440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BVA · equivalence partitioning · decision tables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48640" y="3666744"/>
            <a:ext cx="110642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548640" y="3666744"/>
            <a:ext cx="2468880" cy="6035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713232" y="3666744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246120" y="3666744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Vitest + Supertest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035040" y="3666744"/>
            <a:ext cx="5440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 API over in-memory MongoDB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48640" y="4379976"/>
            <a:ext cx="110642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548640" y="4379976"/>
            <a:ext cx="2468880" cy="60350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13232" y="4379976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/ E2E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246120" y="4379976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Playwright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035040" y="4379976"/>
            <a:ext cx="5440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Black-box journeys, desktop + mobile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48640" y="5093208"/>
            <a:ext cx="110642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548640" y="5093208"/>
            <a:ext cx="2468880" cy="6035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13232" y="5093208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Coverage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246120" y="5093208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Vitest + v8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035040" y="5093208"/>
            <a:ext cx="5440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Statement &amp; branch coverage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48640" y="5806440"/>
            <a:ext cx="1106424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548640" y="5806440"/>
            <a:ext cx="2468880" cy="6035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713232" y="5806440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Regression / CI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246120" y="5806440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035040" y="5806440"/>
            <a:ext cx="5440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Suites re-run on every push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506 — Software Verification, Validation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ProShop · Hena Potogija ·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548640" y="502920"/>
            <a:ext cx="14630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22960" y="71323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Static analysis with ESLint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48640" y="1554480"/>
            <a:ext cx="6675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Static analysis inspects the backend source without executing it — flagging unused code, undeclared globals, unreachable statements and risky constructs.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48640" y="2468880"/>
            <a:ext cx="3017520" cy="1554480"/>
          </a:xfrm>
          <a:prstGeom prst="rect">
            <a:avLst/>
          </a:prstGeom>
          <a:solidFill>
            <a:srgbClr val="0F2A43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548640" y="260604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85800" y="345643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5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5E2"/>
                </a:solidFill>
                <a:latin typeface="Calibri"/>
                <a:ea typeface="Calibri"/>
                <a:cs typeface="Calibri"/>
                <a:sym typeface="Calibri"/>
              </a:rPr>
              <a:t>problems initially (2 errors, 6 warnings)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749040" y="3200400"/>
            <a:ext cx="45720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206240" y="2468880"/>
            <a:ext cx="301752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206240" y="260604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343400" y="345643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warning remaining — justified &amp; documented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429768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lint exits 0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— the one warning is the Express error-handler’s 4-arg signature, which must keep its unused </a:t>
            </a:r>
            <a:r>
              <a:rPr b="0" i="0" lang="en-US" sz="130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 parameter.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635240" y="1554480"/>
            <a:ext cx="4005072" cy="4617720"/>
          </a:xfrm>
          <a:prstGeom prst="rect">
            <a:avLst/>
          </a:prstGeom>
          <a:solidFill>
            <a:srgbClr val="0F2A43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7863840" y="17830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5EEAD4"/>
                </a:solidFill>
                <a:latin typeface="Trebuchet MS"/>
                <a:ea typeface="Trebuchet MS"/>
                <a:cs typeface="Trebuchet MS"/>
                <a:sym typeface="Trebuchet MS"/>
              </a:rPr>
              <a:t>Surfaced a real defect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863840" y="228600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The review found untrusted user input flowing into a MongoDB $regex query unescaped.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863840" y="3200400"/>
            <a:ext cx="3566160" cy="457200"/>
          </a:xfrm>
          <a:prstGeom prst="roundRect">
            <a:avLst>
              <a:gd fmla="val 12000" name="adj"/>
            </a:avLst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863840" y="32004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BUG-001 · Regex injection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863840" y="379476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5E2"/>
                </a:solidFill>
                <a:latin typeface="Calibri"/>
                <a:ea typeface="Calibri"/>
                <a:cs typeface="Calibri"/>
                <a:sym typeface="Calibri"/>
              </a:rPr>
              <a:t>Escalated to a tracked bug, fixed, and locked with a regression test (see later).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863840" y="54406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npm run lint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863840" y="5074920"/>
            <a:ext cx="35661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506 — Software Verification, Validation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ProShop · Hena Potogija ·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548640" y="502920"/>
            <a:ext cx="14630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TEST CASE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22960" y="71323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Black-box techniques on the pricing logic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 under test:  </a:t>
            </a:r>
            <a:r>
              <a:rPr b="1" i="0" lang="en-US" sz="13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shipping = (itemsPrice &gt; 100) ? 0 : 10</a:t>
            </a:r>
            <a:r>
              <a:rPr b="0" i="0" lang="en-US" sz="13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tax = 15%   ·   total = items + shipping + tax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48640" y="2057400"/>
            <a:ext cx="352044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48640" y="2057400"/>
            <a:ext cx="352044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85800" y="205740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Equivalence Partitioning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731520" y="27889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Empty cart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090672" y="2852928"/>
            <a:ext cx="841248" cy="384048"/>
          </a:xfrm>
          <a:prstGeom prst="roundRect">
            <a:avLst>
              <a:gd fmla="val 11905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090672" y="2852928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ship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731520" y="344728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Items = 50 (below)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090672" y="3511296"/>
            <a:ext cx="841248" cy="384048"/>
          </a:xfrm>
          <a:prstGeom prst="roundRect">
            <a:avLst>
              <a:gd fmla="val 11905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090672" y="3511296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ship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731520" y="4105656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Items = 150 (above)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090672" y="4169664"/>
            <a:ext cx="841248" cy="384048"/>
          </a:xfrm>
          <a:prstGeom prst="roundRect">
            <a:avLst>
              <a:gd fmla="val 11905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3090672" y="4169664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ship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242816" y="2057400"/>
            <a:ext cx="352044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242816" y="2057400"/>
            <a:ext cx="3520440" cy="5486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4379976" y="205740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Boundary Value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425696" y="27889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99.99 — just below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784848" y="2852928"/>
            <a:ext cx="841248" cy="384048"/>
          </a:xfrm>
          <a:prstGeom prst="roundRect">
            <a:avLst>
              <a:gd fmla="val 11905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6784848" y="2852928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ship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425696" y="344728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100.00 — on boundary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784848" y="3511296"/>
            <a:ext cx="841248" cy="384048"/>
          </a:xfrm>
          <a:prstGeom prst="roundRect">
            <a:avLst>
              <a:gd fmla="val 11905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6784848" y="3511296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ship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425696" y="4105656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100.01 — just above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784848" y="4169664"/>
            <a:ext cx="841248" cy="384048"/>
          </a:xfrm>
          <a:prstGeom prst="roundRect">
            <a:avLst>
              <a:gd fmla="val 11905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784848" y="4169664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ship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936992" y="2057400"/>
            <a:ext cx="352044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936992" y="2057400"/>
            <a:ext cx="35204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8074152" y="205740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 Table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8119872" y="27889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itemsPrice &gt; 100 = 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0479024" y="2852928"/>
            <a:ext cx="841248" cy="384048"/>
          </a:xfrm>
          <a:prstGeom prst="roundRect">
            <a:avLst>
              <a:gd fmla="val 11905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10479024" y="2852928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ship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8119872" y="3447288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itemsPrice &gt; 100 = 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0479024" y="3511296"/>
            <a:ext cx="841248" cy="384048"/>
          </a:xfrm>
          <a:prstGeom prst="roundRect">
            <a:avLst>
              <a:gd fmla="val 11905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0479024" y="3511296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ship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8119872" y="4105656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Output format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0479024" y="4169664"/>
            <a:ext cx="841248" cy="384048"/>
          </a:xfrm>
          <a:prstGeom prst="roundRect">
            <a:avLst>
              <a:gd fmla="val 11905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10479024" y="4169664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^\d+\.\d{2}$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The boundary case pins down the off-by-one: exactly $100.00 is NOT free shipping (rule is strictly greater than 100).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506 — Software Verification, Validation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ProShop · Hena Potogija ·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/>
          <p:nvPr/>
        </p:nvSpPr>
        <p:spPr>
          <a:xfrm>
            <a:off x="548640" y="502920"/>
            <a:ext cx="14630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TEST EXECUTION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822960" y="71323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Unit &amp; integration 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48640" y="1554480"/>
            <a:ext cx="5394960" cy="4617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548640" y="1554480"/>
            <a:ext cx="5394960" cy="5669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731520" y="1554480"/>
            <a:ext cx="5029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Unit tests · Vitest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31520" y="2286000"/>
            <a:ext cx="1280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5000"/>
              <a:buFont typeface="Trebuchet MS"/>
              <a:buNone/>
            </a:pPr>
            <a:r>
              <a:rPr b="1" i="0" lang="en-US" sz="50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2057400" y="254203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tests passing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31520" y="3383280"/>
            <a:ext cx="73152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932688" y="3383280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calcPrices()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932688" y="3712464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pricing logic — 7 cases (EP, BVA, decision table, format)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31520" y="4617720"/>
            <a:ext cx="73152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932688" y="4617720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generateToken()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932688" y="4946904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JWT signed &amp; stored in a hardened HTTP-only cookie (spy double)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245352" y="1554480"/>
            <a:ext cx="5394960" cy="4617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6245352" y="1554480"/>
            <a:ext cx="5394960" cy="5669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6428232" y="1554480"/>
            <a:ext cx="5029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Integration tests · Supertest + in-memory MongoDB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428232" y="228600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5000"/>
              <a:buFont typeface="Trebuchet MS"/>
              <a:buNone/>
            </a:pPr>
            <a:r>
              <a:rPr b="1" i="0" lang="en-US" sz="50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13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7772400" y="254203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tests passing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428232" y="329184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 Express app: routes → middleware → controllers → Mongoose models, over HTTP.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428232" y="388620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 API — list, search, pagination, 404 paths, auth guard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428232" y="4544568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 API — register, login, duplicate, wrong password, profile guard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428232" y="5202936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Both BUG regression tests live here and stay green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506 — Software Verification, Validation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ProShop · Hena Potogija ·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548640" y="502920"/>
            <a:ext cx="14630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TEST EXECUTION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22960" y="71323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(end-to-end) testing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Black-box Playwright journeys against the running app, using the Page Object Model — run on </a:t>
            </a:r>
            <a:r>
              <a:rPr b="1" i="0" lang="en-US" sz="14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two viewports</a:t>
            </a: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Desktop Chrome and Pixel 5 mobile.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48640" y="2286000"/>
            <a:ext cx="2743200" cy="3840480"/>
          </a:xfrm>
          <a:prstGeom prst="rect">
            <a:avLst/>
          </a:prstGeom>
          <a:solidFill>
            <a:srgbClr val="0F2A43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548640" y="274320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7000"/>
              <a:buFont typeface="Trebuchet MS"/>
              <a:buNone/>
            </a:pPr>
            <a:r>
              <a:rPr b="1" i="0" lang="en-US" sz="7000" u="none" cap="none" strike="noStrike">
                <a:solidFill>
                  <a:srgbClr val="5EEAD4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48640" y="38862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checks passing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48640" y="42519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5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5E2"/>
                </a:solidFill>
                <a:latin typeface="Calibri"/>
                <a:ea typeface="Calibri"/>
                <a:cs typeface="Calibri"/>
                <a:sym typeface="Calibri"/>
              </a:rPr>
              <a:t>6 journeys × 2 devices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77240" y="489204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No test ever places a real payment — PayPal stays in sandbox.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520440" y="2286000"/>
            <a:ext cx="8119872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3639312" y="23774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3639312" y="2377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160520" y="228600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Home loads with header + product cards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0698480" y="22860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520440" y="2935224"/>
            <a:ext cx="8119872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3639312" y="3026664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3639312" y="30266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160520" y="2935224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Search filters products by keyword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10698480" y="2935224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3520440" y="3584448"/>
            <a:ext cx="8119872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3639312" y="3675888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3639312" y="3675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160520" y="358444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product → add to cart → remove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10698480" y="3584448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520440" y="4233672"/>
            <a:ext cx="8119872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3639312" y="4325112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3639312" y="43251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160520" y="423367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new user can register &amp; is authenticated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10698480" y="4233672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520440" y="4882896"/>
            <a:ext cx="8119872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3639312" y="4974336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3639312" y="49743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160520" y="4882896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seeded user can log 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0698480" y="4882896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520440" y="5532120"/>
            <a:ext cx="8119872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3639312" y="562356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3639312" y="5623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160520" y="553212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Login with a wrong password is rejected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0698480" y="553212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506 — Software Verification, Validation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ProShop · Hena Potogija ·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"/>
          <p:cNvSpPr/>
          <p:nvPr/>
        </p:nvSpPr>
        <p:spPr>
          <a:xfrm>
            <a:off x="548640" y="502920"/>
            <a:ext cx="14630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MEASUREMENT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822960" y="71323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Test coverage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Measured with Vitest’s v8 provider. Strategy: fully cover the </a:t>
            </a: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critical business modules</a:t>
            </a: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; sandbox-only payment &amp; upload helpers are intentionally exercised less.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8"/>
          <p:cNvGraphicFramePr/>
          <p:nvPr/>
        </p:nvGraphicFramePr>
        <p:xfrm>
          <a:off x="548640" y="2286000"/>
          <a:ext cx="7406640" cy="3657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74" name="Google Shape;274;p8"/>
          <p:cNvSpPr/>
          <p:nvPr/>
        </p:nvSpPr>
        <p:spPr>
          <a:xfrm>
            <a:off x="8138160" y="2286000"/>
            <a:ext cx="3502152" cy="3657600"/>
          </a:xfrm>
          <a:prstGeom prst="rect">
            <a:avLst/>
          </a:prstGeom>
          <a:solidFill>
            <a:srgbClr val="0F2A43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8321040" y="24688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Trebuchet MS"/>
                <a:ea typeface="Trebuchet MS"/>
                <a:cs typeface="Trebuchet MS"/>
                <a:sym typeface="Trebuchet MS"/>
              </a:rPr>
              <a:t>Critical modules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8321040" y="2971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9372600" y="3008376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5E2"/>
                </a:solidFill>
                <a:latin typeface="Calibri"/>
                <a:ea typeface="Calibri"/>
                <a:cs typeface="Calibri"/>
                <a:sym typeface="Calibri"/>
              </a:rPr>
              <a:t>pricing logic (calcPrices)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8321040" y="36850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9372600" y="372160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5E2"/>
                </a:solidFill>
                <a:latin typeface="Calibri"/>
                <a:ea typeface="Calibri"/>
                <a:cs typeface="Calibri"/>
                <a:sym typeface="Calibri"/>
              </a:rPr>
              <a:t>token generation &amp;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8321040" y="4398264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9372600" y="44348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5E2"/>
                </a:solidFill>
                <a:latin typeface="Calibri"/>
                <a:ea typeface="Calibri"/>
                <a:cs typeface="Calibri"/>
                <a:sym typeface="Calibri"/>
              </a:rPr>
              <a:t>routes &amp; ObjectId guard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8321040" y="5111496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~65%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9372600" y="5148072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5E2"/>
                </a:solidFill>
                <a:latin typeface="Calibri"/>
                <a:ea typeface="Calibri"/>
                <a:cs typeface="Calibri"/>
                <a:sym typeface="Calibri"/>
              </a:rPr>
              <a:t>overall backend statements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506 — Software Verification, Validation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ProShop · Hena Potogija ·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"/>
          <p:cNvSpPr/>
          <p:nvPr/>
        </p:nvSpPr>
        <p:spPr>
          <a:xfrm>
            <a:off x="548640" y="502920"/>
            <a:ext cx="14630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DEFECTS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22960" y="71323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Bugs found, fixed &amp; regression-tested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548640" y="1600200"/>
            <a:ext cx="5486400" cy="4526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548640" y="1600200"/>
            <a:ext cx="5486400" cy="6400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731520" y="16002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BUG-001 · Search regex injection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73152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Severity: 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— HTTP 500 + ReDoS / injection risk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731520" y="274320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Raw user keyword was passed straight into a MongoDB $regex. A character like "(" produced an invalid pattern → unhandled 500.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731520" y="3611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Fix — escape metacharacters before building the pattern: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731520" y="3950208"/>
            <a:ext cx="512064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868680" y="3950208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.replace(/[.*+?^${}()|[\]\\]/g, "\\$&amp;")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731520" y="49377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Guarded by integration test IT-P3 — 500 → 200.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245352" y="1600200"/>
            <a:ext cx="5394960" cy="4526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6245352" y="1600200"/>
            <a:ext cx="539496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6428232" y="160020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Password re-hash on profile update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6428232" y="2377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Severity: 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Medium — broke login after edits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428232" y="274320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Mongoose pre-save hook re-hashed the already-hashed password on every save, so changing a profile name broke the user’s login.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428232" y="3611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Fix — skip hashing when the password is unmodified: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6428232" y="3950208"/>
            <a:ext cx="50292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6565392" y="3950208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if (!this.isModified("password")) return next();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428232" y="4937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Guarded by integration test IT-U6 — re-login still works.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506 — Software Verification, Validation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ProShop · Hena Potogija ·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"/>
          <p:cNvSpPr/>
          <p:nvPr/>
        </p:nvSpPr>
        <p:spPr>
          <a:xfrm>
            <a:off x="548640" y="502920"/>
            <a:ext cx="14630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841248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822960" y="713232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Regression testing &amp; CI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48640" y="157276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push and pull request to </a:t>
            </a:r>
            <a:r>
              <a:rPr b="1" i="0" lang="en-US" sz="1450" u="none" cap="none" strike="noStrike">
                <a:solidFill>
                  <a:srgbClr val="0F2A43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triggers GitHub Actions — so a change that breaks existing behaviour is caught automatically.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548640" y="2331720"/>
            <a:ext cx="17373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1207008" y="2514600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1207008" y="2514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640080" y="303580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Checkout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40080" y="34015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actions/checkout@v4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2212848" y="2331720"/>
            <a:ext cx="320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600"/>
              <a:buFont typeface="Trebuchet MS"/>
              <a:buNone/>
            </a:pPr>
            <a:r>
              <a:rPr b="0" i="0" lang="en-US" sz="26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2404872" y="2331720"/>
            <a:ext cx="17373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3063240" y="2514600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3063240" y="2514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2496312" y="303580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Node.js 20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2496312" y="34015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setup-node@v4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069080" y="2331720"/>
            <a:ext cx="320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600"/>
              <a:buFont typeface="Trebuchet MS"/>
              <a:buNone/>
            </a:pPr>
            <a:r>
              <a:rPr b="0" i="0" lang="en-US" sz="26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261104" y="2331720"/>
            <a:ext cx="17373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4919472" y="2514600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4919472" y="2514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352544" y="303580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Install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352544" y="34015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npm install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5925312" y="2331720"/>
            <a:ext cx="320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600"/>
              <a:buFont typeface="Trebuchet MS"/>
              <a:buNone/>
            </a:pPr>
            <a:r>
              <a:rPr b="0" i="0" lang="en-US" sz="26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6117336" y="2331720"/>
            <a:ext cx="17373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6775704" y="2514600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6775704" y="2514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6208776" y="303580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Lint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6208776" y="34015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npm run lint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7781544" y="2331720"/>
            <a:ext cx="320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600"/>
              <a:buFont typeface="Trebuchet MS"/>
              <a:buNone/>
            </a:pPr>
            <a:r>
              <a:rPr b="0" i="0" lang="en-US" sz="26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7973568" y="2331720"/>
            <a:ext cx="17373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8631936" y="2514600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8631936" y="2514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8065008" y="303580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Test + coverage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8065008" y="34015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npm run test:coverage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9637776" y="2331720"/>
            <a:ext cx="320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600"/>
              <a:buFont typeface="Trebuchet MS"/>
              <a:buNone/>
            </a:pPr>
            <a:r>
              <a:rPr b="0" i="0" lang="en-US" sz="26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9829800" y="2331720"/>
            <a:ext cx="17373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10488168" y="2514600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10488168" y="2514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9921240" y="303580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Upload report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9921240" y="34015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coverage artifact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48640" y="4343400"/>
            <a:ext cx="11064240" cy="1691640"/>
          </a:xfrm>
          <a:prstGeom prst="rect">
            <a:avLst/>
          </a:prstGeom>
          <a:solidFill>
            <a:srgbClr val="0F2A43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F2A4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82296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5EEAD4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Both fixed defects (BUG-001 and the password re-hash) have regression tests inside these suites — so they can never silently reappear. This is regression testing in action: the suite proves the codebase still behaves correctly after every change.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IT 506 — Software Verification, Validation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ProShop · Hena Potogija ·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A43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Everything green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48640" y="1874520"/>
            <a:ext cx="2606040" cy="2286000"/>
          </a:xfrm>
          <a:prstGeom prst="rect">
            <a:avLst/>
          </a:prstGeom>
          <a:solidFill>
            <a:srgbClr val="163B5C"/>
          </a:solidFill>
          <a:ln cap="flat" cmpd="sng" w="12700">
            <a:solidFill>
              <a:srgbClr val="24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548640" y="1874520"/>
            <a:ext cx="26060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548640" y="214884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21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685800" y="32918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unit +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tests passing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3337560" y="1874520"/>
            <a:ext cx="2606040" cy="2286000"/>
          </a:xfrm>
          <a:prstGeom prst="rect">
            <a:avLst/>
          </a:prstGeom>
          <a:solidFill>
            <a:srgbClr val="163B5C"/>
          </a:solidFill>
          <a:ln cap="flat" cmpd="sng" w="12700">
            <a:solidFill>
              <a:srgbClr val="24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3337560" y="1874520"/>
            <a:ext cx="260604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3337560" y="214884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3474720" y="32918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end-to-end checks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(2 viewports)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126480" y="1874520"/>
            <a:ext cx="2606040" cy="2286000"/>
          </a:xfrm>
          <a:prstGeom prst="rect">
            <a:avLst/>
          </a:prstGeom>
          <a:solidFill>
            <a:srgbClr val="163B5C"/>
          </a:solidFill>
          <a:ln cap="flat" cmpd="sng" w="12700">
            <a:solidFill>
              <a:srgbClr val="24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6126480" y="1874520"/>
            <a:ext cx="2606040" cy="9144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6126480" y="214884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5EEAD4"/>
                </a:solidFill>
                <a:latin typeface="Trebuchet MS"/>
                <a:ea typeface="Trebuchet MS"/>
                <a:cs typeface="Trebuchet MS"/>
                <a:sym typeface="Trebuchet MS"/>
              </a:rPr>
              <a:t>~65%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6263640" y="32918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line coverage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critical modules 100%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8915400" y="1874520"/>
            <a:ext cx="2606040" cy="2286000"/>
          </a:xfrm>
          <a:prstGeom prst="rect">
            <a:avLst/>
          </a:prstGeom>
          <a:solidFill>
            <a:srgbClr val="163B5C"/>
          </a:solidFill>
          <a:ln cap="flat" cmpd="sng" w="12700">
            <a:solidFill>
              <a:srgbClr val="24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8915400" y="1874520"/>
            <a:ext cx="26060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8915400" y="214884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9052560" y="32918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bugs found, fixed 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7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7F0"/>
                </a:solidFill>
                <a:latin typeface="Calibri"/>
                <a:ea typeface="Calibri"/>
                <a:cs typeface="Calibri"/>
                <a:sym typeface="Calibri"/>
              </a:rPr>
              <a:t>regression-tested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548640" y="4526280"/>
            <a:ext cx="11064240" cy="1417320"/>
          </a:xfrm>
          <a:prstGeom prst="rect">
            <a:avLst/>
          </a:prstGeom>
          <a:solidFill>
            <a:srgbClr val="12344F"/>
          </a:solidFill>
          <a:ln cap="flat" cmpd="sng" w="12700">
            <a:solidFill>
              <a:srgbClr val="24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 analysis clean (1 justified warning)  ·  all suites pass locally and in CI  ·  critical modules fully covered  ·  two real defects eliminated and permanently guarded.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7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3A7BC"/>
                </a:solidFill>
                <a:latin typeface="Calibri"/>
                <a:ea typeface="Calibri"/>
                <a:cs typeface="Calibri"/>
                <a:sym typeface="Calibri"/>
              </a:rPr>
              <a:t>IT 506 — Software Verification, Validation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A7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3A7BC"/>
                </a:solidFill>
                <a:latin typeface="Calibri"/>
                <a:ea typeface="Calibri"/>
                <a:cs typeface="Calibri"/>
                <a:sym typeface="Calibri"/>
              </a:rPr>
              <a:t>ProShop · Hena Potogija ·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2026-06-14T20:50:48Z</dcterms:created>
  <dc:creator>Hena Potogija</dc:creator>
</cp:coreProperties>
</file>